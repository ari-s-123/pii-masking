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54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1803" y="1244054"/>
            <a:ext cx="67203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PII Detection with DeBERTaV3 + DoRA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2653265" y="2150153"/>
            <a:ext cx="383731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Synthetic Data for Robust NER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000500" y="2661345"/>
            <a:ext cx="1143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27580" y="3194745"/>
            <a:ext cx="28886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6140 Machine Learning • Final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27578" y="3674715"/>
            <a:ext cx="28886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Jonathan Tarun Rajasekaran &amp; Ari 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466874"/>
            <a:ext cx="48480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PII Detection Failures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5300" y="1114574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Singh &amp; Narayanan (2025) evaluated state-of-the-art PII detection models and found critical gaps: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5300" y="1505099"/>
            <a:ext cx="4095750" cy="2019002"/>
          </a:xfrm>
          <a:prstGeom prst="roundRect">
            <a:avLst>
              <a:gd name="adj" fmla="val 377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98652" y="1733699"/>
            <a:ext cx="1089047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8821" y="2708970"/>
            <a:ext cx="12287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Non-identification rate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023397" y="3110805"/>
            <a:ext cx="10394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completely missed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781550" y="1505099"/>
            <a:ext cx="4095750" cy="2019002"/>
          </a:xfrm>
          <a:prstGeom prst="roundRect">
            <a:avLst>
              <a:gd name="adj" fmla="val 377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4902" y="1733699"/>
            <a:ext cx="1089047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246799" y="2708970"/>
            <a:ext cx="11652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Misclassification rate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185775" y="3110805"/>
            <a:ext cx="12871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entity type assigned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95300" y="3676501"/>
            <a:ext cx="8382000" cy="676126"/>
          </a:xfrm>
          <a:prstGeom prst="roundRect">
            <a:avLst>
              <a:gd name="adj" fmla="val 845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14350" y="3676501"/>
            <a:ext cx="0" cy="676126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850" y="3809851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tested: Piiranha, Starpii, MS Presidio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04850" y="402118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failures occur in real-world text with typos, international formats, and emerging PII types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5300" y="4505027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Singh &amp; Narayanan, "On the Limitations of Open-Source PII Detection Models" (2025)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570607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5300" y="1199257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Two-pronged strategy: targeted training data + efficient fine-tuning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95300" y="1543943"/>
            <a:ext cx="4114800" cy="1977330"/>
          </a:xfrm>
          <a:prstGeom prst="roundRect">
            <a:avLst>
              <a:gd name="adj" fmla="val 3854"/>
            </a:avLst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6750" y="1753493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Synthetic Data Generation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6750" y="2168723"/>
            <a:ext cx="37719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6 NER failure dimensions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generation + validation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regional PII formats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PII types from research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0" y="1543943"/>
            <a:ext cx="4114800" cy="1977330"/>
          </a:xfrm>
          <a:prstGeom prst="roundRect">
            <a:avLst>
              <a:gd name="adj" fmla="val 3854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3950" y="1753493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Efficient Fine-tuning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3950" y="2168723"/>
            <a:ext cx="37719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DeBERTaV3-large base model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adaptation method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2.6% params trainable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pretrained knowledge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5300" y="3654623"/>
            <a:ext cx="8382000" cy="918121"/>
          </a:xfrm>
          <a:prstGeom prst="roundRect">
            <a:avLst>
              <a:gd name="adj" fmla="val 83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35946" y="3826073"/>
            <a:ext cx="437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ai4privacy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68887" y="4188023"/>
            <a:ext cx="3716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93929" y="3980259"/>
            <a:ext cx="11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46786" y="3826073"/>
            <a:ext cx="399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47281" y="4188023"/>
            <a:ext cx="1987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5153" y="398025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96421" y="3826073"/>
            <a:ext cx="442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32095" y="4188023"/>
            <a:ext cx="3716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58378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Composition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5300" y="4072830"/>
            <a:ext cx="5486400" cy="388590"/>
          </a:xfrm>
          <a:prstGeom prst="roundRect">
            <a:avLst>
              <a:gd name="adj" fmla="val 1470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7700" y="4187130"/>
            <a:ext cx="52852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is only 3.8% of total but targets critical failure modes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0300" y="967978"/>
            <a:ext cx="2667000" cy="900857"/>
          </a:xfrm>
          <a:prstGeom prst="roundRect">
            <a:avLst>
              <a:gd name="adj" fmla="val 845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62700" y="1158478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Samples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362700" y="1343174"/>
            <a:ext cx="240944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156,695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210300" y="1983135"/>
            <a:ext cx="2667000" cy="942826"/>
          </a:xfrm>
          <a:prstGeom prst="roundRect">
            <a:avLst>
              <a:gd name="adj" fmla="val 8082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53175" y="2164110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ai4privacy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353175" y="2386905"/>
            <a:ext cx="24288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120,526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53175" y="2584996"/>
            <a:ext cx="24288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30,160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0300" y="3040261"/>
            <a:ext cx="2667000" cy="942826"/>
          </a:xfrm>
          <a:prstGeom prst="roundRect">
            <a:avLst>
              <a:gd name="adj" fmla="val 8082"/>
            </a:avLst>
          </a:prstGeom>
          <a:solidFill>
            <a:srgbClr val="ECFDF5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3175" y="3221236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353175" y="3444032"/>
            <a:ext cx="24288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4,801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3175" y="3642122"/>
            <a:ext cx="24288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1,201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0300" y="4097387"/>
            <a:ext cx="2667000" cy="687586"/>
          </a:xfrm>
          <a:prstGeom prst="roundRect">
            <a:avLst>
              <a:gd name="adj" fmla="val 1108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43650" y="4268837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343650" y="445353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20%</a:t>
            </a:r>
            <a:endParaRPr lang="en-US" sz="900" dirty="0"/>
          </a:p>
        </p:txBody>
      </p:sp>
      <p:pic>
        <p:nvPicPr>
          <p:cNvPr id="19" name="Image 0" descr="/home/claude/pptx/fig_data_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291530"/>
            <a:ext cx="54864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72666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Targeting NER Failure Modes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019800" y="982266"/>
            <a:ext cx="2914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dimension addresses specific weaknesses: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019800" y="1205061"/>
            <a:ext cx="2857500" cy="546646"/>
          </a:xfrm>
          <a:prstGeom prst="roundRect">
            <a:avLst>
              <a:gd name="adj" fmla="val 697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34088" y="1205061"/>
            <a:ext cx="0" cy="54664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43625" y="1319361"/>
            <a:ext cx="26911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143625" y="1504057"/>
            <a:ext cx="2691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Standard, well-formatted entities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19800" y="1808857"/>
            <a:ext cx="2857500" cy="546646"/>
          </a:xfrm>
          <a:prstGeom prst="roundRect">
            <a:avLst>
              <a:gd name="adj" fmla="val 697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034088" y="1808857"/>
            <a:ext cx="0" cy="54664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43625" y="1923157"/>
            <a:ext cx="26911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143625" y="2107853"/>
            <a:ext cx="2691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formats in English text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19800" y="2412653"/>
            <a:ext cx="2857500" cy="546646"/>
          </a:xfrm>
          <a:prstGeom prst="roundRect">
            <a:avLst>
              <a:gd name="adj" fmla="val 697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34088" y="2412653"/>
            <a:ext cx="0" cy="54664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43625" y="2526953"/>
            <a:ext cx="26911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143625" y="2711648"/>
            <a:ext cx="2691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Typos, informal text, OCR errors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19800" y="3016448"/>
            <a:ext cx="2857500" cy="546646"/>
          </a:xfrm>
          <a:prstGeom prst="roundRect">
            <a:avLst>
              <a:gd name="adj" fmla="val 697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34088" y="3016448"/>
            <a:ext cx="0" cy="54664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43625" y="3130748"/>
            <a:ext cx="26911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143625" y="3315444"/>
            <a:ext cx="2691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entities needing context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19800" y="3620244"/>
            <a:ext cx="2857500" cy="546646"/>
          </a:xfrm>
          <a:prstGeom prst="roundRect">
            <a:avLst>
              <a:gd name="adj" fmla="val 697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34088" y="3620244"/>
            <a:ext cx="0" cy="546646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43625" y="3734544"/>
            <a:ext cx="26911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43625" y="3919240"/>
            <a:ext cx="2691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wallets, UPI IDs, TOTP codes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19800" y="4224040"/>
            <a:ext cx="2857500" cy="546646"/>
          </a:xfrm>
          <a:prstGeom prst="roundRect">
            <a:avLst>
              <a:gd name="adj" fmla="val 697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34088" y="4224040"/>
            <a:ext cx="0" cy="546646"/>
          </a:xfrm>
          <a:prstGeom prst="line">
            <a:avLst/>
          </a:prstGeom>
          <a:noFill/>
          <a:ln w="285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43625" y="4338340"/>
            <a:ext cx="26911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143625" y="4523036"/>
            <a:ext cx="2691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Intentionally deceptive patterns</a:t>
            </a:r>
            <a:endParaRPr lang="en-US" sz="750" dirty="0"/>
          </a:p>
        </p:txBody>
      </p:sp>
      <p:pic>
        <p:nvPicPr>
          <p:cNvPr id="28" name="Image 0" descr="/home/claude/pptx/fig_feature_dimen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476226"/>
            <a:ext cx="533400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26975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 &amp; Validation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5300" y="974675"/>
            <a:ext cx="1619250" cy="1775222"/>
          </a:xfrm>
          <a:prstGeom prst="roundRect">
            <a:avLst>
              <a:gd name="adj" fmla="val 4706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1278" y="1222325"/>
            <a:ext cx="8071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Generation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942112" y="1662261"/>
            <a:ext cx="72562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1620" y="2355652"/>
            <a:ext cx="7664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10,944 attempts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302383" y="1675656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762250" y="974675"/>
            <a:ext cx="1619250" cy="1775222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64736" y="1275606"/>
            <a:ext cx="8141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Initial Filter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41244" y="1715542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26328" y="2302222"/>
            <a:ext cx="8910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10,836 valid JSON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569333" y="1675656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0" y="974675"/>
            <a:ext cx="1619250" cy="1775222"/>
          </a:xfrm>
          <a:prstGeom prst="roundRect">
            <a:avLst>
              <a:gd name="adj" fmla="val 4706"/>
            </a:avLst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70245" y="1222325"/>
            <a:ext cx="7370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Validation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259994" y="1662261"/>
            <a:ext cx="115766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12975" y="2355652"/>
            <a:ext cx="10515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boundary check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836283" y="1675656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296150" y="974675"/>
            <a:ext cx="1581150" cy="1775222"/>
          </a:xfrm>
          <a:prstGeom prst="roundRect">
            <a:avLst>
              <a:gd name="adj" fmla="val 481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23417" y="1275606"/>
            <a:ext cx="9266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Final Dataset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794956" y="1715542"/>
            <a:ext cx="5835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10440" y="2302222"/>
            <a:ext cx="552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55.4% yield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5300" y="2978497"/>
            <a:ext cx="8382000" cy="1310432"/>
          </a:xfrm>
          <a:prstGeom prst="roundRect">
            <a:avLst>
              <a:gd name="adj" fmla="val 5815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7700" y="3168997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Metrics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47700" y="3456533"/>
            <a:ext cx="1217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Boundary Accuracy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47700" y="3831729"/>
            <a:ext cx="12177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96.6%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070199" y="3456533"/>
            <a:ext cx="7248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Accuracy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070199" y="3831729"/>
            <a:ext cx="724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49.3%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09454" y="3710732"/>
            <a:ext cx="5829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label accuracy due to schema mismatches (e.g., "PERSON" vs "NAME") — resolved via consolidation mapping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5300" y="4441329"/>
            <a:ext cx="8382000" cy="375196"/>
          </a:xfrm>
          <a:prstGeom prst="roundRect">
            <a:avLst>
              <a:gd name="adj" fmla="val 1523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7700" y="4555629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Two-stage LLM pipeline (generator + validator) ensures high-quality training data while maintaining reasonable throughput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43428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&amp; PII Type Coverage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5300" y="1081980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Regional Formats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5300" y="4537621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oversampled for UPI/Aadhaar coverage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81550" y="1081980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PII Types (Singh &amp; Narayanan Taxonomy)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81550" y="4537621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distribution across all PII categories</a:t>
            </a:r>
            <a:endParaRPr lang="en-US" sz="750" dirty="0"/>
          </a:p>
        </p:txBody>
      </p:sp>
      <p:pic>
        <p:nvPicPr>
          <p:cNvPr id="7" name="Image 0" descr="/home/claude/pptx/fig_local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470571"/>
            <a:ext cx="4095750" cy="2857500"/>
          </a:xfrm>
          <a:prstGeom prst="rect">
            <a:avLst/>
          </a:prstGeom>
        </p:spPr>
      </p:pic>
      <p:pic>
        <p:nvPicPr>
          <p:cNvPr id="8" name="Image 1" descr="/home/claude/pptx/fig_pii_typ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0" y="1470571"/>
            <a:ext cx="40957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52119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Consolidation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19800" y="1130796"/>
            <a:ext cx="2857500" cy="813346"/>
          </a:xfrm>
          <a:prstGeom prst="roundRect">
            <a:avLst>
              <a:gd name="adj" fmla="val 936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53150" y="1302246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Label Fragmentation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153150" y="1505992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data had 450+ label variants for semantically identical entities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19800" y="2058442"/>
            <a:ext cx="2857500" cy="931366"/>
          </a:xfrm>
          <a:prstGeom prst="roundRect">
            <a:avLst>
              <a:gd name="adj" fmla="val 613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34100" y="2210842"/>
            <a:ext cx="2681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consolidations: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134100" y="2401342"/>
            <a:ext cx="2681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72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PHONE, PHONE_NUMBER, TELEPHONENUM → PHONENUMBER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6134100" y="2559397"/>
            <a:ext cx="2681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72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PERSON, NAME, PERSON_NAME → FIRSTNAME/LASTNAME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6134100" y="2717453"/>
            <a:ext cx="2681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72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SSN, SOCIAL_NUM, SOCIALNUM → SSN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6019800" y="3104108"/>
            <a:ext cx="2857500" cy="832396"/>
          </a:xfrm>
          <a:prstGeom prst="roundRect">
            <a:avLst>
              <a:gd name="adj" fmla="val 9154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62675" y="3285083"/>
            <a:ext cx="26231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252 Canonical Labels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162675" y="3488829"/>
            <a:ext cx="26231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mapping preserves entity relationships while reducing sparsity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19800" y="4050804"/>
            <a:ext cx="2857500" cy="5715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34100" y="4203204"/>
            <a:ext cx="26814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Long-tail distribution:</a:t>
            </a: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22 labels with 1000+ samples, but all labels represented in training</a:t>
            </a:r>
            <a:endParaRPr lang="en-US" sz="750" dirty="0"/>
          </a:p>
        </p:txBody>
      </p:sp>
      <p:pic>
        <p:nvPicPr>
          <p:cNvPr id="16" name="Image 0" descr="/home/claude/pptx/fig_labe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52550"/>
            <a:ext cx="52959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474464"/>
            <a:ext cx="52852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Architecture: DeBERTaV3 + DoRA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5300" y="1065014"/>
            <a:ext cx="4095750" cy="1735336"/>
          </a:xfrm>
          <a:prstGeom prst="roundRect">
            <a:avLst>
              <a:gd name="adj" fmla="val 4391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1236464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DeBERTaV3-large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28650" y="1485900"/>
            <a:ext cx="382905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304M parameters (24 layers)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Disentangled attention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mask decoder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on NER benchmarks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5300" y="2895600"/>
            <a:ext cx="4095750" cy="1773436"/>
          </a:xfrm>
          <a:prstGeom prst="roundRect">
            <a:avLst>
              <a:gd name="adj" fmla="val 4297"/>
            </a:avLst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3086100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(Weight-Decomposed LoRA)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47700" y="3335536"/>
            <a:ext cx="379095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Decomposes weights: magnitude + direction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Low-rank updates to direction only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stable than standard LoRA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pretrained representations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1550" y="1281410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combination?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81550" y="1574750"/>
            <a:ext cx="4095750" cy="609451"/>
          </a:xfrm>
          <a:prstGeom prst="roundRect">
            <a:avLst>
              <a:gd name="adj" fmla="val 937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95838" y="1574750"/>
            <a:ext cx="0" cy="609451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24425" y="1727150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model = Better context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24425" y="1911846"/>
            <a:ext cx="39153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contextual understanding for ambiguous entities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781550" y="2279452"/>
            <a:ext cx="4095750" cy="609451"/>
          </a:xfrm>
          <a:prstGeom prst="roundRect">
            <a:avLst>
              <a:gd name="adj" fmla="val 937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95838" y="2279452"/>
            <a:ext cx="0" cy="609451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24425" y="2431852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efficiency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924425" y="2616547"/>
            <a:ext cx="39153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only 2.6% — faster, less overfitting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81550" y="2984153"/>
            <a:ext cx="4095750" cy="609451"/>
          </a:xfrm>
          <a:prstGeom prst="roundRect">
            <a:avLst>
              <a:gd name="adj" fmla="val 937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95838" y="2984153"/>
            <a:ext cx="0" cy="609451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24425" y="3136553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preservation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924425" y="3321248"/>
            <a:ext cx="39153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pretrained language understanding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781550" y="3688854"/>
            <a:ext cx="1301800" cy="801886"/>
          </a:xfrm>
          <a:prstGeom prst="roundRect">
            <a:avLst>
              <a:gd name="adj" fmla="val 7127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40077" y="3822204"/>
            <a:ext cx="184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262202" y="4170759"/>
            <a:ext cx="3403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8600" y="3688854"/>
            <a:ext cx="1301800" cy="801886"/>
          </a:xfrm>
          <a:prstGeom prst="roundRect">
            <a:avLst>
              <a:gd name="adj" fmla="val 712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48777" y="3822204"/>
            <a:ext cx="3612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640427" y="4170759"/>
            <a:ext cx="3781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7.82M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575649" y="3688854"/>
            <a:ext cx="1301800" cy="801886"/>
          </a:xfrm>
          <a:prstGeom prst="roundRect">
            <a:avLst>
              <a:gd name="adj" fmla="val 712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24460" y="3822204"/>
            <a:ext cx="2041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8071481" y="4170759"/>
            <a:ext cx="3101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269528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5300" y="1068586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Settings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5300" y="1342876"/>
            <a:ext cx="4076700" cy="1476375"/>
          </a:xfrm>
          <a:prstGeom prst="roundRect">
            <a:avLst>
              <a:gd name="adj" fmla="val 3871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1709589"/>
            <a:ext cx="40767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1457176"/>
            <a:ext cx="366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(r)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51734" y="1457176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95300" y="2081064"/>
            <a:ext cx="40767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600" y="1828651"/>
            <a:ext cx="366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51734" y="1828651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5300" y="2452539"/>
            <a:ext cx="40767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9600" y="2200126"/>
            <a:ext cx="3580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72260" y="2200126"/>
            <a:ext cx="189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9600" y="2571601"/>
            <a:ext cx="30326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modules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735139" y="2578298"/>
            <a:ext cx="7370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q, k, v, dense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95300" y="2933551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5300" y="3207841"/>
            <a:ext cx="4076700" cy="1476375"/>
          </a:xfrm>
          <a:prstGeom prst="roundRect">
            <a:avLst>
              <a:gd name="adj" fmla="val 3871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95300" y="3574554"/>
            <a:ext cx="40767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9600" y="3322141"/>
            <a:ext cx="35751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67051" y="3322141"/>
            <a:ext cx="194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2e-5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95300" y="3946029"/>
            <a:ext cx="40767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9600" y="3693616"/>
            <a:ext cx="366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51734" y="3693616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5300" y="4317504"/>
            <a:ext cx="40767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9600" y="4065091"/>
            <a:ext cx="3164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64769" y="4065091"/>
            <a:ext cx="604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(early stop)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9600" y="4436566"/>
            <a:ext cx="3715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04717" y="4436566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00600" y="860078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Stats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1162943"/>
            <a:ext cx="1981200" cy="996255"/>
          </a:xfrm>
          <a:prstGeom prst="roundRect">
            <a:avLst>
              <a:gd name="adj" fmla="val 764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82165" y="1353443"/>
            <a:ext cx="4180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steps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493968" y="1701998"/>
            <a:ext cx="594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19,000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77050" y="1153418"/>
            <a:ext cx="2000250" cy="1015305"/>
          </a:xfrm>
          <a:prstGeom prst="roundRect">
            <a:avLst>
              <a:gd name="adj" fmla="val 7505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692430" y="1353443"/>
            <a:ext cx="36934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loss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7633984" y="1701998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800600" y="2263973"/>
            <a:ext cx="4076700" cy="438150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14900" y="2416373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NVIDIA H100 (Modal)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00600" y="2797373"/>
            <a:ext cx="4076700" cy="1638300"/>
          </a:xfrm>
          <a:prstGeom prst="roundRect">
            <a:avLst>
              <a:gd name="adj" fmla="val 3488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14900" y="2949773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Prevention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14900" y="3140273"/>
            <a:ext cx="38481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(patience=3)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regularization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rank constraint (r=16)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on adapter layers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800600" y="4530923"/>
            <a:ext cx="4076700" cy="361950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76800" y="4645223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time:</a:t>
            </a: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~2 hours on H100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93353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Model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5300" y="3974753"/>
            <a:ext cx="4114800" cy="451396"/>
          </a:xfrm>
          <a:prstGeom prst="roundRect">
            <a:avLst>
              <a:gd name="adj" fmla="val 1266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14350" y="3974753"/>
            <a:ext cx="0" cy="45139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412715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</a:t>
            </a: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achieves balanced high precision (0.898) AND high recall (0.918)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762500" y="3974753"/>
            <a:ext cx="4114800" cy="451396"/>
          </a:xfrm>
          <a:prstGeom prst="roundRect">
            <a:avLst>
              <a:gd name="adj" fmla="val 12661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81550" y="3974753"/>
            <a:ext cx="0" cy="451396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53000" y="412715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Piiranha</a:t>
            </a: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high precision (0.60) but very low recall (0.15) — misses most PII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95300" y="4578548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on 31,361 test samples • All models tested with their published weights</a:t>
            </a:r>
            <a:endParaRPr lang="en-US" sz="750" dirty="0"/>
          </a:p>
        </p:txBody>
      </p:sp>
      <p:pic>
        <p:nvPicPr>
          <p:cNvPr id="10" name="Image 0" descr="/home/claude/pptx/fig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002953"/>
            <a:ext cx="838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441275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829300" y="1012775"/>
            <a:ext cx="3048000" cy="1041946"/>
          </a:xfrm>
          <a:prstGeom prst="roundRect">
            <a:avLst>
              <a:gd name="adj" fmla="val 731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81700" y="1203275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F1 Score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981700" y="1368921"/>
            <a:ext cx="27980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829300" y="2149971"/>
            <a:ext cx="1476375" cy="828526"/>
          </a:xfrm>
          <a:prstGeom prst="roundRect">
            <a:avLst>
              <a:gd name="adj" fmla="val 689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87600" y="2283321"/>
            <a:ext cx="3596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6347067" y="2631877"/>
            <a:ext cx="4408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0925" y="2149971"/>
            <a:ext cx="1476375" cy="828526"/>
          </a:xfrm>
          <a:prstGeom prst="roundRect">
            <a:avLst>
              <a:gd name="adj" fmla="val 6898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39794" y="2283321"/>
            <a:ext cx="3984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AUC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7901386" y="2631877"/>
            <a:ext cx="4754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29300" y="3073747"/>
            <a:ext cx="3048000" cy="1146572"/>
          </a:xfrm>
          <a:prstGeom prst="roundRect">
            <a:avLst>
              <a:gd name="adj" fmla="val 4984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62650" y="3245197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962650" y="3487043"/>
            <a:ext cx="4883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Piiranha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962650" y="3835598"/>
            <a:ext cx="4883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+272%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55730" y="3487043"/>
            <a:ext cx="5669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mDeBERTa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6555730" y="3835598"/>
            <a:ext cx="5669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29300" y="4315569"/>
            <a:ext cx="3048000" cy="386655"/>
          </a:xfrm>
          <a:prstGeom prst="roundRect">
            <a:avLst>
              <a:gd name="adj" fmla="val 14781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24550" y="4448919"/>
            <a:ext cx="29146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 labels</a:t>
            </a: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18-116 for baselines</a:t>
            </a:r>
            <a:endParaRPr lang="en-US" sz="675" dirty="0"/>
          </a:p>
        </p:txBody>
      </p:sp>
      <p:pic>
        <p:nvPicPr>
          <p:cNvPr id="20" name="Image 0" descr="/home/claude/pptx/fig_f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619250"/>
            <a:ext cx="51435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595313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Approach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5300" y="1281113"/>
            <a:ext cx="4114800" cy="1557338"/>
          </a:xfrm>
          <a:prstGeom prst="roundRect">
            <a:avLst>
              <a:gd name="adj" fmla="val 4893"/>
            </a:avLst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4850" y="149066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8526" y="154215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62050" y="1568797"/>
            <a:ext cx="14638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Training 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850" y="2119313"/>
            <a:ext cx="376961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specifically addresses the 6 failure modes identified in prior research. Even at 3.8% of total data, it dramatically improves edge case handling.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762500" y="1281113"/>
            <a:ext cx="4114800" cy="1557338"/>
          </a:xfrm>
          <a:prstGeom prst="roundRect">
            <a:avLst>
              <a:gd name="adj" fmla="val 4893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72050" y="149066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95726" y="154215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29250" y="1568797"/>
            <a:ext cx="12170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Base 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72050" y="2119313"/>
            <a:ext cx="376961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DeBERTaV3-large provides superior contextual understanding for ambiguous entities. The disentangled attention mechanism excels at capturing entity boundaries.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5300" y="3069431"/>
            <a:ext cx="4114800" cy="1400175"/>
          </a:xfrm>
          <a:prstGeom prst="roundRect">
            <a:avLst>
              <a:gd name="adj" fmla="val 5442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4850" y="327898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8526" y="3330476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62050" y="3357116"/>
            <a:ext cx="10530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Efficiency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850" y="3907631"/>
            <a:ext cx="37696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only 2.6% of parameters prevents catastrophic forgetting of pretrained knowledge while efficiently adapting to PII-specific patterns.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762500" y="2990850"/>
            <a:ext cx="4114800" cy="1557338"/>
          </a:xfrm>
          <a:prstGeom prst="roundRect">
            <a:avLst>
              <a:gd name="adj" fmla="val 4893"/>
            </a:avLst>
          </a:prstGeom>
          <a:solidFill>
            <a:srgbClr val="F5F3FF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2050" y="320040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95726" y="3251895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29250" y="3278535"/>
            <a:ext cx="11412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Validation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72050" y="3829050"/>
            <a:ext cx="376961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LLM pipeline (Grok + GPT-5.1) ensures 96.6% entity boundary accuracy in synthetic data. Bad training examples are filtered before they can hurt the model.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649932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5300" y="1297632"/>
            <a:ext cx="4114800" cy="1037927"/>
          </a:xfrm>
          <a:prstGeom prst="roundRect">
            <a:avLst>
              <a:gd name="adj" fmla="val 734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14350" y="1297632"/>
            <a:ext cx="0" cy="1037927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88132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Fairness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705273"/>
            <a:ext cx="384733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 time constraints, we did not retrain baseline models on our augmented dataset. Comparison uses their original published weights, which may underestimate their potential with similar training data.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0" y="1297632"/>
            <a:ext cx="4114800" cy="1037927"/>
          </a:xfrm>
          <a:prstGeom prst="roundRect">
            <a:avLst>
              <a:gd name="adj" fmla="val 734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81550" y="1297632"/>
            <a:ext cx="0" cy="1037927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53000" y="1488132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Bias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53000" y="1705273"/>
            <a:ext cx="384733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generated samples contain non-English text despite English prompts. The "multilingual" dimension may introduce patterns not representative of real-world English PII.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95300" y="2449860"/>
            <a:ext cx="4114800" cy="1037927"/>
          </a:xfrm>
          <a:prstGeom prst="roundRect">
            <a:avLst>
              <a:gd name="adj" fmla="val 7342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4350" y="2449860"/>
            <a:ext cx="0" cy="103792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640360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Granularity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857500"/>
            <a:ext cx="384733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 labels may be overly granular for some use cases. Many real applications only need ~20-30 categories. Fine-grained labels increase model complexity without clear downstream benefit.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62500" y="2523083"/>
            <a:ext cx="4114800" cy="891332"/>
          </a:xfrm>
          <a:prstGeom prst="roundRect">
            <a:avLst>
              <a:gd name="adj" fmla="val 8549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81550" y="2523083"/>
            <a:ext cx="0" cy="89133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3000" y="271358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53000" y="2930723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DeBERTaV3-large requires significant GPU memory for inference (~8GB). May not be suitable for edge deployment or resource-constrained environments.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95300" y="3602087"/>
            <a:ext cx="4114800" cy="891332"/>
          </a:xfrm>
          <a:prstGeom prst="roundRect">
            <a:avLst>
              <a:gd name="adj" fmla="val 8549"/>
            </a:avLst>
          </a:prstGeom>
          <a:solidFill>
            <a:srgbClr val="FEFC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14350" y="3602087"/>
            <a:ext cx="0" cy="891332"/>
          </a:xfrm>
          <a:prstGeom prst="line">
            <a:avLst/>
          </a:prstGeom>
          <a:noFill/>
          <a:ln w="381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792587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Out-of-Distribution Testing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4009727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has not been tested on truly out-of-distribution data (e.g., different domains, adversarial inputs crafted to evade detection).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62500" y="3602087"/>
            <a:ext cx="4114800" cy="891332"/>
          </a:xfrm>
          <a:prstGeom prst="roundRect">
            <a:avLst>
              <a:gd name="adj" fmla="val 8549"/>
            </a:avLst>
          </a:prstGeom>
          <a:solidFill>
            <a:srgbClr val="FEFC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81550" y="3602087"/>
            <a:ext cx="0" cy="891332"/>
          </a:xfrm>
          <a:prstGeom prst="line">
            <a:avLst/>
          </a:prstGeom>
          <a:noFill/>
          <a:ln w="381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53000" y="3792587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Validity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53000" y="4009727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formats evolve rapidly (new payment systems, ID formats). Model may degrade on emerging PII types not represented in training data.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889695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Conclusion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5300" y="1499295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5300" y="1773585"/>
            <a:ext cx="4095750" cy="558105"/>
          </a:xfrm>
          <a:prstGeom prst="roundRect">
            <a:avLst>
              <a:gd name="adj" fmla="val 1024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9587" y="1773585"/>
            <a:ext cx="0" cy="558105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9125" y="1906935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Simplification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19125" y="2078385"/>
            <a:ext cx="39542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 → ~30 practical categories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10909" y="2417801"/>
            <a:ext cx="4095750" cy="558105"/>
          </a:xfrm>
          <a:prstGeom prst="roundRect">
            <a:avLst>
              <a:gd name="adj" fmla="val 1024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9587" y="2407890"/>
            <a:ext cx="0" cy="558105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125" y="2541240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Testing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9125" y="2712690"/>
            <a:ext cx="39542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D4ED8"/>
                </a:solidFill>
                <a:latin typeface="Arial" pitchFamily="34" charset="0"/>
                <a:cs typeface="Arial" pitchFamily="34" charset="-120"/>
              </a:rPr>
              <a:t>Testing against new data and PII types in the future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95300" y="3042196"/>
            <a:ext cx="4095750" cy="558105"/>
          </a:xfrm>
          <a:prstGeom prst="roundRect">
            <a:avLst>
              <a:gd name="adj" fmla="val 1024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9587" y="3042196"/>
            <a:ext cx="0" cy="558105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125" y="3175546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Optimization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9125" y="3346996"/>
            <a:ext cx="39542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for edge deployment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95300" y="3676501"/>
            <a:ext cx="4095750" cy="558105"/>
          </a:xfrm>
          <a:prstGeom prst="roundRect">
            <a:avLst>
              <a:gd name="adj" fmla="val 10240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9587" y="3676501"/>
            <a:ext cx="0" cy="558105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125" y="3809851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Comparison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9125" y="3981301"/>
            <a:ext cx="39542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baselines on augmented data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781550" y="1525042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81550" y="1799332"/>
            <a:ext cx="4095750" cy="866775"/>
          </a:xfrm>
          <a:prstGeom prst="roundRect">
            <a:avLst>
              <a:gd name="adj" fmla="val 8791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4900" y="1970782"/>
            <a:ext cx="39056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synthetic data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fine-tuning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dramatically improves PII detection.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914900" y="2361307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 F1 — 145-272% improvement over baselines.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81550" y="2742307"/>
            <a:ext cx="4095750" cy="910233"/>
          </a:xfrm>
          <a:prstGeom prst="roundRect">
            <a:avLst>
              <a:gd name="adj" fmla="val 6279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05375" y="2904232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05375" y="3094732"/>
            <a:ext cx="3925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04785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huggingface.co/Ari-S-123/deberta-v3-large-pii-consolidated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05375" y="3239393"/>
            <a:ext cx="3925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04785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huggingface.co/datasets/Ari-S-123/pii-detection-english-consolidated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905375" y="3384054"/>
            <a:ext cx="3925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04785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github.com/Ari-S-123/pii-masking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81550" y="3728740"/>
            <a:ext cx="4095750" cy="479971"/>
          </a:xfrm>
          <a:prstGeom prst="roundRect">
            <a:avLst>
              <a:gd name="adj" fmla="val 1190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36124" y="3862090"/>
            <a:ext cx="7802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79649" y="3895427"/>
            <a:ext cx="5407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1091</Words>
  <Application>Microsoft Office PowerPoint</Application>
  <PresentationFormat>On-screen Show (16:9)</PresentationFormat>
  <Paragraphs>231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Georgia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PII Detection with DeBERTaV3 + DoRA</dc:title>
  <dc:subject>CS 6140 Machine Learning Final Project</dc:subject>
  <dc:creator>Jonathan &amp; Ari</dc:creator>
  <cp:lastModifiedBy>Jonathan Tarun</cp:lastModifiedBy>
  <cp:revision>2</cp:revision>
  <dcterms:created xsi:type="dcterms:W3CDTF">2025-12-08T01:32:15Z</dcterms:created>
  <dcterms:modified xsi:type="dcterms:W3CDTF">2025-12-08T01:41:57Z</dcterms:modified>
</cp:coreProperties>
</file>